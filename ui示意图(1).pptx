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7"/>
    <p:restoredTop sz="94673"/>
  </p:normalViewPr>
  <p:slideViewPr>
    <p:cSldViewPr snapToGrid="0">
      <p:cViewPr>
        <p:scale>
          <a:sx n="129" d="100"/>
          <a:sy n="129" d="100"/>
        </p:scale>
        <p:origin x="-1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1DC241-5C43-9345-A33E-6337D5C5439B}" type="datetimeFigureOut">
              <a:rPr kumimoji="1" lang="zh-CN" altLang="en-US" smtClean="0"/>
              <a:t>2026/3/9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A5C7C1-F077-DB42-89ED-5016A7BACF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3093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A5C7C1-F077-DB42-89ED-5016A7BACF6C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382991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062A8-6AC1-57F0-FB44-5C30FDD44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84E0102-8CAD-103E-986C-AA1E64B15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D8C75C-20C3-A5BE-A592-507208A472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B39256-4CC2-CAC7-51F5-288771C098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A5C7C1-F077-DB42-89ED-5016A7BACF6C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534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DFA92-2575-3046-020B-31588C442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70EB740-E5BA-40DA-20D0-4D51B585D8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349DD01-B3A9-B80C-D66C-123D115CB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8176BA-451E-1E66-B4A8-ADEAEBA641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A5C7C1-F077-DB42-89ED-5016A7BACF6C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701400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F28E3-64E7-0A75-55A5-EEC75EF1F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ACCA487-8B37-DC0F-22AE-2E8F52D4B5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CD268E2-7925-B4D0-EBEE-7CCED74B0F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F6F449-A717-EAC0-EEDA-E7D4B3077A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A5C7C1-F077-DB42-89ED-5016A7BACF6C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29110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F82FBD-7B66-6E1E-58A0-F38CE66193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D73274F-2E2D-272F-9168-15A4828FF9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E5D0A4-6A76-AD6D-D6B7-27203B1ED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5A54E-693B-D14C-9F0B-75E067360402}" type="datetimeFigureOut">
              <a:rPr kumimoji="1" lang="zh-CN" altLang="en-US" smtClean="0"/>
              <a:t>2026/3/9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7E4334-DEAA-5CFB-C471-3EF129DBA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863491-0639-EE08-AC5D-8F68B935C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21F41-FF85-9044-89E7-4E9BCFE3A1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12778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057994-5351-9E3A-34F2-74F28F99B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EF90A8-739A-32EF-CC02-EC41193F3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1124A3-3A17-38F5-97B7-50CE4A79D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5A54E-693B-D14C-9F0B-75E067360402}" type="datetimeFigureOut">
              <a:rPr kumimoji="1" lang="zh-CN" altLang="en-US" smtClean="0"/>
              <a:t>2026/3/9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F33F19-CE7A-E469-BDFC-601F31A7B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5319B9-7DE5-3FEB-DD63-165FBB9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21F41-FF85-9044-89E7-4E9BCFE3A1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6054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89CE21-6BDB-E725-936F-666AE035C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F8A3E8-8DBC-B24B-671F-A7BBBFF16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2BA03F-1D9D-2E39-B9C9-472E05417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5A54E-693B-D14C-9F0B-75E067360402}" type="datetimeFigureOut">
              <a:rPr kumimoji="1" lang="zh-CN" altLang="en-US" smtClean="0"/>
              <a:t>2026/3/9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F652DD-147D-7389-964E-88BA06E8B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DD5ACA-3599-E185-A94F-2DAE76D13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21F41-FF85-9044-89E7-4E9BCFE3A1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87925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2BDD23-7245-1B9D-A6F9-97002D9A3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2DF356-3A70-0308-411E-3C60BCAC21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9C6B2CC-83CE-6724-3CBF-8198E957A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8989EB-600D-2134-7F5D-9E8C27E29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5A54E-693B-D14C-9F0B-75E067360402}" type="datetimeFigureOut">
              <a:rPr kumimoji="1" lang="zh-CN" altLang="en-US" smtClean="0"/>
              <a:t>2026/3/9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447F7E6-835D-2AE1-492C-FA83A5C8D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86FCB14-AF73-1B8E-8376-ED83FBFB9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21F41-FF85-9044-89E7-4E9BCFE3A1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57387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53CC29-2C8E-0DCD-8430-0C8467EFA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15057E-1633-445C-0DA3-2D7028182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9A1645-0B22-FCC9-1A4F-254C0492D9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9B77233-5684-E668-B17F-DC0A5CDA46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F88FA89-AA28-8BBA-D71D-26F6E33951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B0D163E-5BA0-D459-3F81-76F2ABB35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5A54E-693B-D14C-9F0B-75E067360402}" type="datetimeFigureOut">
              <a:rPr kumimoji="1" lang="zh-CN" altLang="en-US" smtClean="0"/>
              <a:t>2026/3/9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8471ED1-B824-507F-DA35-3B3D6A7C0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E1BFF43-E6BB-6782-9818-9FF1383B4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21F41-FF85-9044-89E7-4E9BCFE3A1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9883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0DBF73-D880-EB68-DACD-E2ECCF183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D733BF6-3F3C-2BEC-70C1-458192476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5A54E-693B-D14C-9F0B-75E067360402}" type="datetimeFigureOut">
              <a:rPr kumimoji="1" lang="zh-CN" altLang="en-US" smtClean="0"/>
              <a:t>2026/3/9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522344E-E42B-00A0-176A-C693B3619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B9CCE9-C68B-CF26-A970-BC597B3DC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21F41-FF85-9044-89E7-4E9BCFE3A1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905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0959591-96B7-EF45-56A2-68DCA63C1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5A54E-693B-D14C-9F0B-75E067360402}" type="datetimeFigureOut">
              <a:rPr kumimoji="1" lang="zh-CN" altLang="en-US" smtClean="0"/>
              <a:t>2026/3/9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E7A6126-B907-522F-A7AD-283A16F3D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583E8D-694F-4806-4586-D7999E508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21F41-FF85-9044-89E7-4E9BCFE3A1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62164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F2647E-7DD9-CAF5-27A6-13F8EB605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5C68DD-2C66-AC36-8EA9-A38D11EC6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FA4DE2-D03C-B28F-E18E-0994DB884E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C3D32E0-981C-9E85-1C82-B27A345D8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5A54E-693B-D14C-9F0B-75E067360402}" type="datetimeFigureOut">
              <a:rPr kumimoji="1" lang="zh-CN" altLang="en-US" smtClean="0"/>
              <a:t>2026/3/9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548BB3-7BE2-87F8-4D7D-3111F4190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D8E453-89A8-F08C-F7EA-71D202C8B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21F41-FF85-9044-89E7-4E9BCFE3A1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6609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B64829-2A3E-B945-6261-720775F2D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4A9832C-11E9-C624-694B-B27169C249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6821DE-EBB5-571D-6FAF-2935DBBDA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31FBC8-E770-8083-6488-52B392D2E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5A54E-693B-D14C-9F0B-75E067360402}" type="datetimeFigureOut">
              <a:rPr kumimoji="1" lang="zh-CN" altLang="en-US" smtClean="0"/>
              <a:t>2026/3/9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227B84-E0F0-E55F-DE32-265CC274E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19FB1CD-C946-DAF4-C9BD-4184CCD73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21F41-FF85-9044-89E7-4E9BCFE3A1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82941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A3FF94-00B7-04A3-B617-42B68A106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64CDE10-FE55-F8DE-7CEA-65B91F425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5CCD03-F501-DC7A-6561-5B215A954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5A54E-693B-D14C-9F0B-75E067360402}" type="datetimeFigureOut">
              <a:rPr kumimoji="1" lang="zh-CN" altLang="en-US" smtClean="0"/>
              <a:t>2026/3/9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9FC9BD-73BF-1D4D-775E-DAE80B13D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4D472A-86F6-EA74-4B7B-329DF7337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21F41-FF85-9044-89E7-4E9BCFE3A1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00441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16815BE-078E-1408-6FFE-F78BA12132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22A2EA7-8BDC-25C7-7DA5-720E0BF459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8177D-23A5-8EB0-6391-F5B9607F1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5A54E-693B-D14C-9F0B-75E067360402}" type="datetimeFigureOut">
              <a:rPr kumimoji="1" lang="zh-CN" altLang="en-US" smtClean="0"/>
              <a:t>2026/3/9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607817-0291-8C5D-EDFF-32A468A5F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ECE40D-4A2A-BDEF-3D72-11F0CEA6B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21F41-FF85-9044-89E7-4E9BCFE3A1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83580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F7AA189-C76D-1E53-1E96-8E936D43D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C58682-1577-6E4A-83AE-C51F565D3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3C848C-F267-6B75-F110-9ECD573204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B5A54E-693B-D14C-9F0B-75E067360402}" type="datetimeFigureOut">
              <a:rPr kumimoji="1" lang="zh-CN" altLang="en-US" smtClean="0"/>
              <a:t>2026/3/9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83D7D9-4352-EBE1-8DB0-3F2090BDA2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BF59D1-F43C-83B0-23E6-A7734F7B41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B21F41-FF85-9044-89E7-4E9BCFE3A1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75142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C51487B-4BFD-23E8-F14D-9B7EC1A336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801" b="112"/>
          <a:stretch>
            <a:fillRect/>
          </a:stretch>
        </p:blipFill>
        <p:spPr>
          <a:xfrm>
            <a:off x="399695" y="1750741"/>
            <a:ext cx="7772400" cy="364644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8B4246B-04F9-B7F8-FF38-281266132887}"/>
              </a:ext>
            </a:extLst>
          </p:cNvPr>
          <p:cNvSpPr txBox="1"/>
          <p:nvPr/>
        </p:nvSpPr>
        <p:spPr>
          <a:xfrm>
            <a:off x="278780" y="267629"/>
            <a:ext cx="2143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Landing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Page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参考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B657EDF-2D5E-FBC5-4A48-9110846CBDAD}"/>
              </a:ext>
            </a:extLst>
          </p:cNvPr>
          <p:cNvSpPr/>
          <p:nvPr/>
        </p:nvSpPr>
        <p:spPr>
          <a:xfrm>
            <a:off x="1628078" y="3033131"/>
            <a:ext cx="5296829" cy="5018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B6933D4-25FA-AA82-C5D0-C4867D3BAABB}"/>
              </a:ext>
            </a:extLst>
          </p:cNvPr>
          <p:cNvSpPr/>
          <p:nvPr/>
        </p:nvSpPr>
        <p:spPr>
          <a:xfrm>
            <a:off x="1144859" y="4215160"/>
            <a:ext cx="6281853" cy="10928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0CE70AF8-C251-ECCA-0847-9149061C1D47}"/>
              </a:ext>
            </a:extLst>
          </p:cNvPr>
          <p:cNvCxnSpPr/>
          <p:nvPr/>
        </p:nvCxnSpPr>
        <p:spPr>
          <a:xfrm flipV="1">
            <a:off x="6924907" y="2888166"/>
            <a:ext cx="1694986" cy="2787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94B3C2BB-9365-C5AE-11D1-F1B568E2E2B9}"/>
              </a:ext>
            </a:extLst>
          </p:cNvPr>
          <p:cNvSpPr txBox="1"/>
          <p:nvPr/>
        </p:nvSpPr>
        <p:spPr>
          <a:xfrm>
            <a:off x="8619893" y="270350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用户点击上传文件</a:t>
            </a:r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A9487F27-CC3E-BD33-1A05-A02AE957A8CE}"/>
              </a:ext>
            </a:extLst>
          </p:cNvPr>
          <p:cNvCxnSpPr/>
          <p:nvPr/>
        </p:nvCxnSpPr>
        <p:spPr>
          <a:xfrm flipV="1">
            <a:off x="7426712" y="4568283"/>
            <a:ext cx="1694986" cy="2787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B1A72A65-A47C-7AD1-EF00-A5CE75DFF218}"/>
              </a:ext>
            </a:extLst>
          </p:cNvPr>
          <p:cNvSpPr txBox="1"/>
          <p:nvPr/>
        </p:nvSpPr>
        <p:spPr>
          <a:xfrm>
            <a:off x="9121698" y="4383617"/>
            <a:ext cx="1112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历史记录</a:t>
            </a:r>
          </a:p>
        </p:txBody>
      </p:sp>
    </p:spTree>
    <p:extLst>
      <p:ext uri="{BB962C8B-B14F-4D97-AF65-F5344CB8AC3E}">
        <p14:creationId xmlns:p14="http://schemas.microsoft.com/office/powerpoint/2010/main" val="3114759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DCE97-474E-F615-615E-9684C96E6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1D6D625-1B54-046D-0062-6654D23AB0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800" b="55219"/>
          <a:stretch>
            <a:fillRect/>
          </a:stretch>
        </p:blipFill>
        <p:spPr>
          <a:xfrm>
            <a:off x="399695" y="1750742"/>
            <a:ext cx="7772400" cy="131227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866D521-FC78-B455-E735-86CE8FDE74A5}"/>
              </a:ext>
            </a:extLst>
          </p:cNvPr>
          <p:cNvSpPr txBox="1"/>
          <p:nvPr/>
        </p:nvSpPr>
        <p:spPr>
          <a:xfrm>
            <a:off x="278780" y="267629"/>
            <a:ext cx="2143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Landing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Page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参考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4ABA2CD-8372-9C25-79DD-FD4AF813CDA2}"/>
              </a:ext>
            </a:extLst>
          </p:cNvPr>
          <p:cNvSpPr/>
          <p:nvPr/>
        </p:nvSpPr>
        <p:spPr>
          <a:xfrm>
            <a:off x="1882807" y="3090445"/>
            <a:ext cx="4694663" cy="21060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ACA4E5-C6E6-39C6-4F50-EEEB02CEF446}"/>
              </a:ext>
            </a:extLst>
          </p:cNvPr>
          <p:cNvSpPr txBox="1"/>
          <p:nvPr/>
        </p:nvSpPr>
        <p:spPr>
          <a:xfrm>
            <a:off x="3932620" y="3149769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/>
              <a:t>代码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391CE11-7DEE-4D96-F63F-0E80F0CB77B0}"/>
              </a:ext>
            </a:extLst>
          </p:cNvPr>
          <p:cNvSpPr/>
          <p:nvPr/>
        </p:nvSpPr>
        <p:spPr>
          <a:xfrm>
            <a:off x="6870157" y="4857913"/>
            <a:ext cx="1024906" cy="3441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8439C8F-4F72-A048-DF98-7825014C27C6}"/>
              </a:ext>
            </a:extLst>
          </p:cNvPr>
          <p:cNvSpPr txBox="1"/>
          <p:nvPr/>
        </p:nvSpPr>
        <p:spPr>
          <a:xfrm>
            <a:off x="6870157" y="4857914"/>
            <a:ext cx="10249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/>
              <a:t>开始检测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129D52C-99FA-3395-D6D5-787FA3A9596A}"/>
              </a:ext>
            </a:extLst>
          </p:cNvPr>
          <p:cNvSpPr/>
          <p:nvPr/>
        </p:nvSpPr>
        <p:spPr>
          <a:xfrm>
            <a:off x="6870157" y="3090444"/>
            <a:ext cx="1024906" cy="16822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6A76FA0-7C96-4731-6BC0-7F5285E66A41}"/>
              </a:ext>
            </a:extLst>
          </p:cNvPr>
          <p:cNvSpPr txBox="1"/>
          <p:nvPr/>
        </p:nvSpPr>
        <p:spPr>
          <a:xfrm>
            <a:off x="7073548" y="3149769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Agent1</a:t>
            </a:r>
            <a:endParaRPr kumimoji="1" lang="zh-CN" altLang="en-US" sz="16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6D92AC8-B843-5929-03FA-E0AD3755D66A}"/>
              </a:ext>
            </a:extLst>
          </p:cNvPr>
          <p:cNvSpPr txBox="1"/>
          <p:nvPr/>
        </p:nvSpPr>
        <p:spPr>
          <a:xfrm>
            <a:off x="7073548" y="3515750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Agent2</a:t>
            </a:r>
            <a:endParaRPr kumimoji="1" lang="zh-CN" altLang="en-US" sz="16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2CE250E-0B9C-E679-D5DD-598FE8FBC4CD}"/>
              </a:ext>
            </a:extLst>
          </p:cNvPr>
          <p:cNvSpPr txBox="1"/>
          <p:nvPr/>
        </p:nvSpPr>
        <p:spPr>
          <a:xfrm>
            <a:off x="7070798" y="3881731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Agent3</a:t>
            </a:r>
            <a:endParaRPr kumimoji="1" lang="zh-CN" altLang="en-US" sz="16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D647D9A-3316-2B6F-E94D-566A637591B6}"/>
              </a:ext>
            </a:extLst>
          </p:cNvPr>
          <p:cNvSpPr txBox="1"/>
          <p:nvPr/>
        </p:nvSpPr>
        <p:spPr>
          <a:xfrm>
            <a:off x="4393580" y="590066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过场动画</a:t>
            </a:r>
          </a:p>
        </p:txBody>
      </p:sp>
    </p:spTree>
    <p:extLst>
      <p:ext uri="{BB962C8B-B14F-4D97-AF65-F5344CB8AC3E}">
        <p14:creationId xmlns:p14="http://schemas.microsoft.com/office/powerpoint/2010/main" val="1049594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DB51A-0C52-196F-B8A9-870334237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38D556E-320D-753C-F46C-26BEA42DC47E}"/>
              </a:ext>
            </a:extLst>
          </p:cNvPr>
          <p:cNvSpPr/>
          <p:nvPr/>
        </p:nvSpPr>
        <p:spPr>
          <a:xfrm>
            <a:off x="695696" y="1819406"/>
            <a:ext cx="1582259" cy="69519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C0845FC-A67E-9C1B-F6A7-64BB9992CA9F}"/>
              </a:ext>
            </a:extLst>
          </p:cNvPr>
          <p:cNvSpPr txBox="1"/>
          <p:nvPr/>
        </p:nvSpPr>
        <p:spPr>
          <a:xfrm>
            <a:off x="278780" y="267629"/>
            <a:ext cx="1438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主页面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检测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E7757E-AA40-06D9-678D-FAA6DEB5030A}"/>
              </a:ext>
            </a:extLst>
          </p:cNvPr>
          <p:cNvSpPr/>
          <p:nvPr/>
        </p:nvSpPr>
        <p:spPr>
          <a:xfrm>
            <a:off x="490655" y="892098"/>
            <a:ext cx="10214516" cy="50403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73F7432-9730-93C1-07AD-E252FCD18DEC}"/>
              </a:ext>
            </a:extLst>
          </p:cNvPr>
          <p:cNvSpPr/>
          <p:nvPr/>
        </p:nvSpPr>
        <p:spPr>
          <a:xfrm>
            <a:off x="597198" y="1319561"/>
            <a:ext cx="1779261" cy="44865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87FDE20-F8C0-A2A2-95CF-8C0776E3F982}"/>
              </a:ext>
            </a:extLst>
          </p:cNvPr>
          <p:cNvSpPr txBox="1"/>
          <p:nvPr/>
        </p:nvSpPr>
        <p:spPr>
          <a:xfrm>
            <a:off x="987328" y="1319561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/>
              <a:t>漏洞工单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80FC649-9400-10B5-8FB9-1FC28F0A2854}"/>
              </a:ext>
            </a:extLst>
          </p:cNvPr>
          <p:cNvSpPr txBox="1"/>
          <p:nvPr/>
        </p:nvSpPr>
        <p:spPr>
          <a:xfrm>
            <a:off x="5108310" y="89209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项目名称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A34329D-28D6-1D58-4675-5B831E58F31E}"/>
              </a:ext>
            </a:extLst>
          </p:cNvPr>
          <p:cNvSpPr txBox="1"/>
          <p:nvPr/>
        </p:nvSpPr>
        <p:spPr>
          <a:xfrm>
            <a:off x="1232586" y="5353772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……</a:t>
            </a:r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6B50432-72E3-DD3B-EA35-34369D886D84}"/>
              </a:ext>
            </a:extLst>
          </p:cNvPr>
          <p:cNvSpPr txBox="1"/>
          <p:nvPr/>
        </p:nvSpPr>
        <p:spPr>
          <a:xfrm>
            <a:off x="1751849" y="1819406"/>
            <a:ext cx="526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rgbClr val="FF0000"/>
                </a:solidFill>
              </a:rPr>
              <a:t>high</a:t>
            </a:r>
            <a:endParaRPr kumimoji="1" lang="zh-CN" altLang="en-US" sz="1400" dirty="0">
              <a:solidFill>
                <a:srgbClr val="FF0000"/>
              </a:solidFill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5E17A376-BA02-D951-37DE-A117826F7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699" y="2764415"/>
            <a:ext cx="1582259" cy="740482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40E0C343-CB8C-695C-B6AD-598266C005F7}"/>
              </a:ext>
            </a:extLst>
          </p:cNvPr>
          <p:cNvSpPr txBox="1"/>
          <p:nvPr/>
        </p:nvSpPr>
        <p:spPr>
          <a:xfrm>
            <a:off x="1751852" y="2757789"/>
            <a:ext cx="4780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rgbClr val="FFC000"/>
                </a:solidFill>
              </a:rPr>
              <a:t>mid</a:t>
            </a:r>
            <a:endParaRPr kumimoji="1" lang="zh-CN" altLang="en-US" sz="1400" dirty="0">
              <a:solidFill>
                <a:srgbClr val="FFC000"/>
              </a:solidFill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E02DC1E8-824D-E25D-38E2-DDB93D413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696" y="3709424"/>
            <a:ext cx="1582259" cy="740482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8183255D-6C10-596B-1A1D-8A522A5ED2C9}"/>
              </a:ext>
            </a:extLst>
          </p:cNvPr>
          <p:cNvSpPr txBox="1"/>
          <p:nvPr/>
        </p:nvSpPr>
        <p:spPr>
          <a:xfrm>
            <a:off x="1751849" y="3702798"/>
            <a:ext cx="4523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rgbClr val="00B0F0"/>
                </a:solidFill>
              </a:rPr>
              <a:t>low</a:t>
            </a:r>
            <a:endParaRPr kumimoji="1" lang="zh-CN" altLang="en-US" sz="1400" dirty="0">
              <a:solidFill>
                <a:srgbClr val="00B0F0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760612A-5D26-5231-8AB5-A1B0FC21C7FD}"/>
              </a:ext>
            </a:extLst>
          </p:cNvPr>
          <p:cNvSpPr/>
          <p:nvPr/>
        </p:nvSpPr>
        <p:spPr>
          <a:xfrm>
            <a:off x="2542975" y="1319562"/>
            <a:ext cx="8017229" cy="3988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9B12AEE0-4BF1-84A6-A872-45D7511073B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5236"/>
          <a:stretch>
            <a:fillRect/>
          </a:stretch>
        </p:blipFill>
        <p:spPr>
          <a:xfrm>
            <a:off x="2668085" y="1425244"/>
            <a:ext cx="1838865" cy="685800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A4E45E53-6EF4-6534-DA89-B88D3D1867A5}"/>
              </a:ext>
            </a:extLst>
          </p:cNvPr>
          <p:cNvSpPr/>
          <p:nvPr/>
        </p:nvSpPr>
        <p:spPr>
          <a:xfrm>
            <a:off x="2695376" y="2329763"/>
            <a:ext cx="1640874" cy="10928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0141228-D81A-CE50-032C-3505A7A2B27B}"/>
              </a:ext>
            </a:extLst>
          </p:cNvPr>
          <p:cNvSpPr/>
          <p:nvPr/>
        </p:nvSpPr>
        <p:spPr>
          <a:xfrm>
            <a:off x="2690352" y="3562814"/>
            <a:ext cx="1640875" cy="9738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9AFCA1-C033-2DC1-4D2C-3F3ED51D4978}"/>
              </a:ext>
            </a:extLst>
          </p:cNvPr>
          <p:cNvSpPr/>
          <p:nvPr/>
        </p:nvSpPr>
        <p:spPr>
          <a:xfrm>
            <a:off x="2690354" y="4772723"/>
            <a:ext cx="1640874" cy="8931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C3A75FE-07B7-6F41-B154-7167444F691B}"/>
              </a:ext>
            </a:extLst>
          </p:cNvPr>
          <p:cNvSpPr txBox="1"/>
          <p:nvPr/>
        </p:nvSpPr>
        <p:spPr>
          <a:xfrm>
            <a:off x="2766589" y="238845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检测信息概览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B189AF2-EE22-2DD3-7648-0BA61EFDFA2F}"/>
              </a:ext>
            </a:extLst>
          </p:cNvPr>
          <p:cNvSpPr txBox="1"/>
          <p:nvPr/>
        </p:nvSpPr>
        <p:spPr>
          <a:xfrm>
            <a:off x="2945940" y="273907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漏洞名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3F219FC-E813-F7A8-89C5-9343D4F46F6D}"/>
              </a:ext>
            </a:extLst>
          </p:cNvPr>
          <p:cNvSpPr txBox="1"/>
          <p:nvPr/>
        </p:nvSpPr>
        <p:spPr>
          <a:xfrm>
            <a:off x="2874404" y="304176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漏洞函数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0E9CAA8-716C-2E35-B7A1-4E3BB63B672E}"/>
              </a:ext>
            </a:extLst>
          </p:cNvPr>
          <p:cNvSpPr txBox="1"/>
          <p:nvPr/>
        </p:nvSpPr>
        <p:spPr>
          <a:xfrm>
            <a:off x="2766589" y="362516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验证概览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10542E0-7039-C70A-7290-97544C8173A6}"/>
              </a:ext>
            </a:extLst>
          </p:cNvPr>
          <p:cNvSpPr txBox="1"/>
          <p:nvPr/>
        </p:nvSpPr>
        <p:spPr>
          <a:xfrm>
            <a:off x="2859089" y="392786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是否触发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353A982-2700-D98A-5D21-3489101C2FD1}"/>
              </a:ext>
            </a:extLst>
          </p:cNvPr>
          <p:cNvSpPr txBox="1"/>
          <p:nvPr/>
        </p:nvSpPr>
        <p:spPr>
          <a:xfrm>
            <a:off x="2874404" y="421324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损失评估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4B7EF5B-3CDD-F0CD-0B44-009279D0D735}"/>
              </a:ext>
            </a:extLst>
          </p:cNvPr>
          <p:cNvSpPr txBox="1"/>
          <p:nvPr/>
        </p:nvSpPr>
        <p:spPr>
          <a:xfrm>
            <a:off x="2766589" y="477945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修复概览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8B008F7C-3207-45EB-0C2C-CE182BBD616D}"/>
              </a:ext>
            </a:extLst>
          </p:cNvPr>
          <p:cNvSpPr txBox="1"/>
          <p:nvPr/>
        </p:nvSpPr>
        <p:spPr>
          <a:xfrm>
            <a:off x="2853050" y="508462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补丁生成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CE9C6E90-EFB6-4559-7FB0-E331B2881D64}"/>
              </a:ext>
            </a:extLst>
          </p:cNvPr>
          <p:cNvSpPr txBox="1"/>
          <p:nvPr/>
        </p:nvSpPr>
        <p:spPr>
          <a:xfrm>
            <a:off x="2939511" y="536001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多维度评估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C2FEE17-1AE4-8C50-A25D-2C02F3545CD6}"/>
              </a:ext>
            </a:extLst>
          </p:cNvPr>
          <p:cNvSpPr/>
          <p:nvPr/>
        </p:nvSpPr>
        <p:spPr>
          <a:xfrm>
            <a:off x="4699409" y="1319560"/>
            <a:ext cx="5860795" cy="44865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34FDBC2-51D6-4B1C-A21C-9C5CBFCC49B5}"/>
              </a:ext>
            </a:extLst>
          </p:cNvPr>
          <p:cNvSpPr/>
          <p:nvPr/>
        </p:nvSpPr>
        <p:spPr>
          <a:xfrm>
            <a:off x="4867659" y="3909197"/>
            <a:ext cx="5588339" cy="17618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FB681703-A43A-3802-D1AC-34552310FC1F}"/>
              </a:ext>
            </a:extLst>
          </p:cNvPr>
          <p:cNvSpPr txBox="1"/>
          <p:nvPr/>
        </p:nvSpPr>
        <p:spPr>
          <a:xfrm>
            <a:off x="6763886" y="388731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带标注的漏洞代码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6380DAD-CD34-766C-D5CF-3FBB8623CAFD}"/>
              </a:ext>
            </a:extLst>
          </p:cNvPr>
          <p:cNvSpPr/>
          <p:nvPr/>
        </p:nvSpPr>
        <p:spPr>
          <a:xfrm>
            <a:off x="7664737" y="1423215"/>
            <a:ext cx="2775411" cy="22795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B2B6C2E-23C4-20DB-CFEE-326CADFCB827}"/>
              </a:ext>
            </a:extLst>
          </p:cNvPr>
          <p:cNvSpPr txBox="1"/>
          <p:nvPr/>
        </p:nvSpPr>
        <p:spPr>
          <a:xfrm>
            <a:off x="8361173" y="142821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漏洞分析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D9095441-22AF-5920-BFF0-04B22914F06D}"/>
              </a:ext>
            </a:extLst>
          </p:cNvPr>
          <p:cNvSpPr/>
          <p:nvPr/>
        </p:nvSpPr>
        <p:spPr>
          <a:xfrm>
            <a:off x="7817137" y="1840121"/>
            <a:ext cx="2332039" cy="4940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B4DF4C01-56EB-5A7D-CE82-AF9CB96F8D29}"/>
              </a:ext>
            </a:extLst>
          </p:cNvPr>
          <p:cNvSpPr txBox="1"/>
          <p:nvPr/>
        </p:nvSpPr>
        <p:spPr>
          <a:xfrm>
            <a:off x="8299315" y="1903746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Agent1</a:t>
            </a:r>
            <a:r>
              <a:rPr kumimoji="1" lang="zh-CN" altLang="en-US" dirty="0"/>
              <a:t>分析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966FB9D2-E7CF-5780-E912-E180DB70C286}"/>
              </a:ext>
            </a:extLst>
          </p:cNvPr>
          <p:cNvSpPr/>
          <p:nvPr/>
        </p:nvSpPr>
        <p:spPr>
          <a:xfrm>
            <a:off x="7817137" y="2514600"/>
            <a:ext cx="2332039" cy="4940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CC73C740-E299-554D-8856-A49FE81B9E2B}"/>
              </a:ext>
            </a:extLst>
          </p:cNvPr>
          <p:cNvSpPr txBox="1"/>
          <p:nvPr/>
        </p:nvSpPr>
        <p:spPr>
          <a:xfrm>
            <a:off x="8299315" y="2578225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Agent2</a:t>
            </a:r>
            <a:r>
              <a:rPr kumimoji="1" lang="zh-CN" altLang="en-US" dirty="0"/>
              <a:t>分析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A063F38F-8443-2251-FCDA-CBB09E675D8E}"/>
              </a:ext>
            </a:extLst>
          </p:cNvPr>
          <p:cNvSpPr/>
          <p:nvPr/>
        </p:nvSpPr>
        <p:spPr>
          <a:xfrm>
            <a:off x="7817137" y="3143714"/>
            <a:ext cx="2332039" cy="4940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FDF70632-311B-EFFD-F773-CB278F979F2D}"/>
              </a:ext>
            </a:extLst>
          </p:cNvPr>
          <p:cNvSpPr txBox="1"/>
          <p:nvPr/>
        </p:nvSpPr>
        <p:spPr>
          <a:xfrm>
            <a:off x="8299315" y="3207339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Agent3</a:t>
            </a:r>
            <a:r>
              <a:rPr kumimoji="1" lang="zh-CN" altLang="en-US" dirty="0"/>
              <a:t>分析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0CE8D33C-D7FF-914C-6729-813924B993F9}"/>
              </a:ext>
            </a:extLst>
          </p:cNvPr>
          <p:cNvSpPr/>
          <p:nvPr/>
        </p:nvSpPr>
        <p:spPr>
          <a:xfrm>
            <a:off x="4867659" y="1425465"/>
            <a:ext cx="2652111" cy="22773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4334F009-CAA5-FBCA-E2A3-A6151EBB0C8A}"/>
              </a:ext>
            </a:extLst>
          </p:cNvPr>
          <p:cNvSpPr txBox="1"/>
          <p:nvPr/>
        </p:nvSpPr>
        <p:spPr>
          <a:xfrm>
            <a:off x="5438174" y="147545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漏洞基本信息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64979A24-8398-1C48-2F5A-094B0389C780}"/>
              </a:ext>
            </a:extLst>
          </p:cNvPr>
          <p:cNvSpPr txBox="1"/>
          <p:nvPr/>
        </p:nvSpPr>
        <p:spPr>
          <a:xfrm>
            <a:off x="5002460" y="236973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严重程度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B266A535-3BA9-9F07-241B-D413897CF632}"/>
              </a:ext>
            </a:extLst>
          </p:cNvPr>
          <p:cNvSpPr txBox="1"/>
          <p:nvPr/>
        </p:nvSpPr>
        <p:spPr>
          <a:xfrm>
            <a:off x="5074235" y="292373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置信度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95882AA3-789A-2DE4-97C9-06623663BDDD}"/>
              </a:ext>
            </a:extLst>
          </p:cNvPr>
          <p:cNvSpPr txBox="1"/>
          <p:nvPr/>
        </p:nvSpPr>
        <p:spPr>
          <a:xfrm>
            <a:off x="4926246" y="187872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漏洞名称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0E7112D-0C19-3227-E58E-5FB8F3E9CF1B}"/>
              </a:ext>
            </a:extLst>
          </p:cNvPr>
          <p:cNvSpPr txBox="1"/>
          <p:nvPr/>
        </p:nvSpPr>
        <p:spPr>
          <a:xfrm>
            <a:off x="697667" y="1803267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100" dirty="0"/>
              <a:t>漏洞名称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0CB02CD-F902-6B94-80E0-4303395B713B}"/>
              </a:ext>
            </a:extLst>
          </p:cNvPr>
          <p:cNvSpPr txBox="1"/>
          <p:nvPr/>
        </p:nvSpPr>
        <p:spPr>
          <a:xfrm>
            <a:off x="664162" y="2127183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900" dirty="0"/>
              <a:t>漏洞状态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5D0C025-00CE-EF0F-82F8-121F6937C28E}"/>
              </a:ext>
            </a:extLst>
          </p:cNvPr>
          <p:cNvSpPr txBox="1"/>
          <p:nvPr/>
        </p:nvSpPr>
        <p:spPr>
          <a:xfrm>
            <a:off x="816562" y="2279583"/>
            <a:ext cx="4154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900" dirty="0"/>
              <a:t>检测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5772AB0-56CB-300A-D412-97B098544FAB}"/>
              </a:ext>
            </a:extLst>
          </p:cNvPr>
          <p:cNvSpPr txBox="1"/>
          <p:nvPr/>
        </p:nvSpPr>
        <p:spPr>
          <a:xfrm>
            <a:off x="1271893" y="2285978"/>
            <a:ext cx="4154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900" dirty="0"/>
              <a:t>验证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A318596-146B-23CF-03A1-8246B979BA3C}"/>
              </a:ext>
            </a:extLst>
          </p:cNvPr>
          <p:cNvSpPr txBox="1"/>
          <p:nvPr/>
        </p:nvSpPr>
        <p:spPr>
          <a:xfrm>
            <a:off x="1802787" y="2282856"/>
            <a:ext cx="4154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900" dirty="0"/>
              <a:t>修复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AC11E626-881B-F503-66B9-E467443135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130" y="2345717"/>
            <a:ext cx="116861" cy="11625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2CC0264B-49A0-DBCA-5E4F-00D16E6246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3697" y="2334824"/>
            <a:ext cx="116861" cy="116253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12CD7724-6254-D542-2ACF-92569261A7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4383" y="2341429"/>
            <a:ext cx="141556" cy="13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620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86FC7-0756-A5A9-A5A2-25DE09E24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954EC98-E0CF-88A7-1D77-3ECE590041EB}"/>
              </a:ext>
            </a:extLst>
          </p:cNvPr>
          <p:cNvSpPr txBox="1"/>
          <p:nvPr/>
        </p:nvSpPr>
        <p:spPr>
          <a:xfrm>
            <a:off x="278780" y="267629"/>
            <a:ext cx="1438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主页面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验证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22B253C-5D50-24A7-F751-B0570929D560}"/>
              </a:ext>
            </a:extLst>
          </p:cNvPr>
          <p:cNvSpPr/>
          <p:nvPr/>
        </p:nvSpPr>
        <p:spPr>
          <a:xfrm>
            <a:off x="490655" y="892098"/>
            <a:ext cx="10214516" cy="50403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123151D-96AA-64A0-611F-B3042FE9F0D1}"/>
              </a:ext>
            </a:extLst>
          </p:cNvPr>
          <p:cNvSpPr/>
          <p:nvPr/>
        </p:nvSpPr>
        <p:spPr>
          <a:xfrm>
            <a:off x="597198" y="1319561"/>
            <a:ext cx="1779261" cy="44865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D68B1C5-60CC-E645-F9B1-0CF34ACCCEAD}"/>
              </a:ext>
            </a:extLst>
          </p:cNvPr>
          <p:cNvSpPr txBox="1"/>
          <p:nvPr/>
        </p:nvSpPr>
        <p:spPr>
          <a:xfrm>
            <a:off x="987328" y="1319561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/>
              <a:t>漏洞工单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7618EDD-E9F9-6B83-C93D-131EBF700002}"/>
              </a:ext>
            </a:extLst>
          </p:cNvPr>
          <p:cNvSpPr txBox="1"/>
          <p:nvPr/>
        </p:nvSpPr>
        <p:spPr>
          <a:xfrm>
            <a:off x="5108310" y="89209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项目名称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C69399E-0A7E-E567-EA06-343B7293566F}"/>
              </a:ext>
            </a:extLst>
          </p:cNvPr>
          <p:cNvSpPr txBox="1"/>
          <p:nvPr/>
        </p:nvSpPr>
        <p:spPr>
          <a:xfrm>
            <a:off x="1232586" y="5353772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……</a:t>
            </a:r>
            <a:endParaRPr kumimoji="1" lang="zh-CN" altLang="en-US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D74F1128-D897-1D7C-4AEB-73EC6131F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696" y="1826032"/>
            <a:ext cx="1582259" cy="740482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301A462E-FE15-DDAC-16A7-4831979C9905}"/>
              </a:ext>
            </a:extLst>
          </p:cNvPr>
          <p:cNvSpPr txBox="1"/>
          <p:nvPr/>
        </p:nvSpPr>
        <p:spPr>
          <a:xfrm>
            <a:off x="1751849" y="1819406"/>
            <a:ext cx="526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rgbClr val="FF0000"/>
                </a:solidFill>
              </a:rPr>
              <a:t>high</a:t>
            </a:r>
            <a:endParaRPr kumimoji="1" lang="zh-CN" altLang="en-US" sz="1400" dirty="0">
              <a:solidFill>
                <a:srgbClr val="FF0000"/>
              </a:solidFill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DA8707BE-0CD3-2427-22D5-67B8C3517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699" y="2764415"/>
            <a:ext cx="1582259" cy="740482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1E11F01E-520D-E930-364F-EE3130F19639}"/>
              </a:ext>
            </a:extLst>
          </p:cNvPr>
          <p:cNvSpPr txBox="1"/>
          <p:nvPr/>
        </p:nvSpPr>
        <p:spPr>
          <a:xfrm>
            <a:off x="1751852" y="2757789"/>
            <a:ext cx="4780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rgbClr val="FFC000"/>
                </a:solidFill>
              </a:rPr>
              <a:t>mid</a:t>
            </a:r>
            <a:endParaRPr kumimoji="1" lang="zh-CN" altLang="en-US" sz="1400" dirty="0">
              <a:solidFill>
                <a:srgbClr val="FFC000"/>
              </a:solidFill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4FA882FD-B874-6795-4DF2-270DBB26B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696" y="3709424"/>
            <a:ext cx="1582259" cy="740482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C45277DE-8A4A-774D-67DA-6BD4B969AA4F}"/>
              </a:ext>
            </a:extLst>
          </p:cNvPr>
          <p:cNvSpPr txBox="1"/>
          <p:nvPr/>
        </p:nvSpPr>
        <p:spPr>
          <a:xfrm>
            <a:off x="1751849" y="3702798"/>
            <a:ext cx="4523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rgbClr val="00B0F0"/>
                </a:solidFill>
              </a:rPr>
              <a:t>low</a:t>
            </a:r>
            <a:endParaRPr kumimoji="1" lang="zh-CN" altLang="en-US" sz="1400" dirty="0">
              <a:solidFill>
                <a:srgbClr val="00B0F0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CD7B58B-92A0-FCD6-6790-FBBF029F8962}"/>
              </a:ext>
            </a:extLst>
          </p:cNvPr>
          <p:cNvSpPr/>
          <p:nvPr/>
        </p:nvSpPr>
        <p:spPr>
          <a:xfrm>
            <a:off x="2542975" y="1319561"/>
            <a:ext cx="2031325" cy="44865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D64EBE9E-8D4B-8495-C476-07D019FCA5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5236"/>
          <a:stretch>
            <a:fillRect/>
          </a:stretch>
        </p:blipFill>
        <p:spPr>
          <a:xfrm>
            <a:off x="2668085" y="1425244"/>
            <a:ext cx="1838865" cy="685800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8098F589-1652-121E-1E13-E530A5466601}"/>
              </a:ext>
            </a:extLst>
          </p:cNvPr>
          <p:cNvSpPr/>
          <p:nvPr/>
        </p:nvSpPr>
        <p:spPr>
          <a:xfrm>
            <a:off x="2695376" y="2329763"/>
            <a:ext cx="1640874" cy="10928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694EEED-21B1-F720-F128-234A6E360298}"/>
              </a:ext>
            </a:extLst>
          </p:cNvPr>
          <p:cNvSpPr/>
          <p:nvPr/>
        </p:nvSpPr>
        <p:spPr>
          <a:xfrm>
            <a:off x="2690352" y="3562814"/>
            <a:ext cx="1640875" cy="9738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53ED0B2-65FB-74B1-38C7-6C17F5F470A0}"/>
              </a:ext>
            </a:extLst>
          </p:cNvPr>
          <p:cNvSpPr/>
          <p:nvPr/>
        </p:nvSpPr>
        <p:spPr>
          <a:xfrm>
            <a:off x="2690354" y="4772723"/>
            <a:ext cx="1640874" cy="8931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6A75270-854B-CAF9-1959-7A96D3B5DBC4}"/>
              </a:ext>
            </a:extLst>
          </p:cNvPr>
          <p:cNvSpPr txBox="1"/>
          <p:nvPr/>
        </p:nvSpPr>
        <p:spPr>
          <a:xfrm>
            <a:off x="2766589" y="238845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检测信息概览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975287F-2050-70AD-CC3D-1446081A5B4F}"/>
              </a:ext>
            </a:extLst>
          </p:cNvPr>
          <p:cNvSpPr txBox="1"/>
          <p:nvPr/>
        </p:nvSpPr>
        <p:spPr>
          <a:xfrm>
            <a:off x="2945940" y="273907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漏洞名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A442C7F-ED24-80A7-A5D4-98B7AC73D3D0}"/>
              </a:ext>
            </a:extLst>
          </p:cNvPr>
          <p:cNvSpPr txBox="1"/>
          <p:nvPr/>
        </p:nvSpPr>
        <p:spPr>
          <a:xfrm>
            <a:off x="2874404" y="304176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漏洞函数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F1083D3-7859-D01E-9A13-989DB233F10B}"/>
              </a:ext>
            </a:extLst>
          </p:cNvPr>
          <p:cNvSpPr txBox="1"/>
          <p:nvPr/>
        </p:nvSpPr>
        <p:spPr>
          <a:xfrm>
            <a:off x="2766589" y="362516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验证概览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535C639-3698-430B-CB76-F9D705A5496C}"/>
              </a:ext>
            </a:extLst>
          </p:cNvPr>
          <p:cNvSpPr txBox="1"/>
          <p:nvPr/>
        </p:nvSpPr>
        <p:spPr>
          <a:xfrm>
            <a:off x="2859089" y="392786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是否触发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C4B2D56-DCDC-3BC1-2F22-6032F53B3EFD}"/>
              </a:ext>
            </a:extLst>
          </p:cNvPr>
          <p:cNvSpPr txBox="1"/>
          <p:nvPr/>
        </p:nvSpPr>
        <p:spPr>
          <a:xfrm>
            <a:off x="2874404" y="421324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损失评估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271A4D5-099B-2242-CCA1-89DC829AB7D1}"/>
              </a:ext>
            </a:extLst>
          </p:cNvPr>
          <p:cNvSpPr/>
          <p:nvPr/>
        </p:nvSpPr>
        <p:spPr>
          <a:xfrm>
            <a:off x="5239036" y="3847249"/>
            <a:ext cx="687274" cy="3266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Fun1</a:t>
            </a:r>
            <a:endParaRPr kumimoji="1" lang="zh-CN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09A5CE1-8290-FDAC-B177-61E4347C138D}"/>
              </a:ext>
            </a:extLst>
          </p:cNvPr>
          <p:cNvSpPr/>
          <p:nvPr/>
        </p:nvSpPr>
        <p:spPr>
          <a:xfrm>
            <a:off x="6226726" y="3847248"/>
            <a:ext cx="687274" cy="3266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Fun2</a:t>
            </a:r>
            <a:endParaRPr kumimoji="1" lang="zh-CN" altLang="en-US" dirty="0"/>
          </a:p>
        </p:txBody>
      </p:sp>
      <p:cxnSp>
        <p:nvCxnSpPr>
          <p:cNvPr id="41" name="直线箭头连接符 40">
            <a:extLst>
              <a:ext uri="{FF2B5EF4-FFF2-40B4-BE49-F238E27FC236}">
                <a16:creationId xmlns:a16="http://schemas.microsoft.com/office/drawing/2014/main" id="{56CD2CB6-1DF5-51F1-AD2C-93D0A21BABA3}"/>
              </a:ext>
            </a:extLst>
          </p:cNvPr>
          <p:cNvCxnSpPr>
            <a:stCxn id="38" idx="3"/>
            <a:endCxn id="39" idx="1"/>
          </p:cNvCxnSpPr>
          <p:nvPr/>
        </p:nvCxnSpPr>
        <p:spPr>
          <a:xfrm flipV="1">
            <a:off x="5926310" y="4010575"/>
            <a:ext cx="30041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CEF28189-6FDC-D3C3-7EAE-73E1AC2BA202}"/>
              </a:ext>
            </a:extLst>
          </p:cNvPr>
          <p:cNvSpPr txBox="1"/>
          <p:nvPr/>
        </p:nvSpPr>
        <p:spPr>
          <a:xfrm>
            <a:off x="2766589" y="477945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修复概览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AC96535-00E9-4552-ABF1-46A5E5618DC4}"/>
              </a:ext>
            </a:extLst>
          </p:cNvPr>
          <p:cNvSpPr txBox="1"/>
          <p:nvPr/>
        </p:nvSpPr>
        <p:spPr>
          <a:xfrm>
            <a:off x="2853050" y="508462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补丁生成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1095CFC-02E5-92B2-4C4C-42B172D8EEB8}"/>
              </a:ext>
            </a:extLst>
          </p:cNvPr>
          <p:cNvSpPr txBox="1"/>
          <p:nvPr/>
        </p:nvSpPr>
        <p:spPr>
          <a:xfrm>
            <a:off x="2939511" y="536001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多维度评估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16B0AB0-3F62-C4FA-F930-5A3A4D52C0E6}"/>
              </a:ext>
            </a:extLst>
          </p:cNvPr>
          <p:cNvSpPr/>
          <p:nvPr/>
        </p:nvSpPr>
        <p:spPr>
          <a:xfrm>
            <a:off x="4699409" y="1319560"/>
            <a:ext cx="5860795" cy="44865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7CBAF3C-AD0C-9C31-29BD-486F508B7BB5}"/>
              </a:ext>
            </a:extLst>
          </p:cNvPr>
          <p:cNvSpPr/>
          <p:nvPr/>
        </p:nvSpPr>
        <p:spPr>
          <a:xfrm>
            <a:off x="7807526" y="1471962"/>
            <a:ext cx="2489727" cy="41554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76E4C745-1F89-F709-300F-135F4BBB9EAA}"/>
              </a:ext>
            </a:extLst>
          </p:cNvPr>
          <p:cNvSpPr txBox="1"/>
          <p:nvPr/>
        </p:nvSpPr>
        <p:spPr>
          <a:xfrm>
            <a:off x="8297214" y="1522985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漏洞</a:t>
            </a:r>
            <a:r>
              <a:rPr kumimoji="1" lang="en-US" altLang="zh-CN" dirty="0"/>
              <a:t>PoC</a:t>
            </a:r>
            <a:r>
              <a:rPr kumimoji="1" lang="zh-CN" altLang="en-US" dirty="0"/>
              <a:t>代码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0962542A-E09C-ECDE-11F0-D35554C08BFE}"/>
              </a:ext>
            </a:extLst>
          </p:cNvPr>
          <p:cNvSpPr/>
          <p:nvPr/>
        </p:nvSpPr>
        <p:spPr>
          <a:xfrm>
            <a:off x="4867659" y="3347781"/>
            <a:ext cx="2652111" cy="22795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EFA1F98A-98B9-9314-22EA-C4BA3B5D1AE5}"/>
              </a:ext>
            </a:extLst>
          </p:cNvPr>
          <p:cNvSpPr txBox="1"/>
          <p:nvPr/>
        </p:nvSpPr>
        <p:spPr>
          <a:xfrm>
            <a:off x="5498091" y="3458980"/>
            <a:ext cx="1156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graph</a:t>
            </a:r>
            <a:endParaRPr kumimoji="1" lang="zh-CN" altLang="en-US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86945437-F6DE-023E-C5DD-1574343069C3}"/>
              </a:ext>
            </a:extLst>
          </p:cNvPr>
          <p:cNvSpPr/>
          <p:nvPr/>
        </p:nvSpPr>
        <p:spPr>
          <a:xfrm>
            <a:off x="4984633" y="3396362"/>
            <a:ext cx="2332039" cy="9634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66C81983-3F33-56BA-5865-EF227DD7CBDD}"/>
              </a:ext>
            </a:extLst>
          </p:cNvPr>
          <p:cNvSpPr/>
          <p:nvPr/>
        </p:nvSpPr>
        <p:spPr>
          <a:xfrm>
            <a:off x="4984634" y="4518393"/>
            <a:ext cx="2332038" cy="10200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5FB244F5-0895-8767-5F5D-2101C67FE558}"/>
              </a:ext>
            </a:extLst>
          </p:cNvPr>
          <p:cNvSpPr/>
          <p:nvPr/>
        </p:nvSpPr>
        <p:spPr>
          <a:xfrm>
            <a:off x="4867659" y="1471961"/>
            <a:ext cx="2652111" cy="17618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8083BF9C-EBF8-4697-8721-AAFF04CD6ABB}"/>
              </a:ext>
            </a:extLst>
          </p:cNvPr>
          <p:cNvSpPr txBox="1"/>
          <p:nvPr/>
        </p:nvSpPr>
        <p:spPr>
          <a:xfrm>
            <a:off x="5553691" y="1498925"/>
            <a:ext cx="1128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验证信息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4DE8B90D-35D1-F077-6363-0FA1E7107541}"/>
              </a:ext>
            </a:extLst>
          </p:cNvPr>
          <p:cNvSpPr txBox="1"/>
          <p:nvPr/>
        </p:nvSpPr>
        <p:spPr>
          <a:xfrm>
            <a:off x="4926246" y="243756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危害性评估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60E391A0-1FEC-6216-1A6E-25047FC56B20}"/>
              </a:ext>
            </a:extLst>
          </p:cNvPr>
          <p:cNvSpPr txBox="1"/>
          <p:nvPr/>
        </p:nvSpPr>
        <p:spPr>
          <a:xfrm>
            <a:off x="4926246" y="192522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触发性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F3A046B-E69B-DD53-E9CF-0E640FA9090B}"/>
              </a:ext>
            </a:extLst>
          </p:cNvPr>
          <p:cNvSpPr txBox="1"/>
          <p:nvPr/>
        </p:nvSpPr>
        <p:spPr>
          <a:xfrm>
            <a:off x="5473267" y="455496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资金流动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9E4796C-EB70-CF8E-B067-B0AD07099D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4827" y="4874903"/>
            <a:ext cx="1407662" cy="63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352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A5994-ADCB-E175-8D86-D1D2DB198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D74DB9F-38E8-91BE-82CC-44DE453F8299}"/>
              </a:ext>
            </a:extLst>
          </p:cNvPr>
          <p:cNvSpPr txBox="1"/>
          <p:nvPr/>
        </p:nvSpPr>
        <p:spPr>
          <a:xfrm>
            <a:off x="278780" y="267629"/>
            <a:ext cx="1438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主页面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修复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457B852-FB0C-E8FD-605E-CB7606AD4718}"/>
              </a:ext>
            </a:extLst>
          </p:cNvPr>
          <p:cNvSpPr/>
          <p:nvPr/>
        </p:nvSpPr>
        <p:spPr>
          <a:xfrm>
            <a:off x="490655" y="892098"/>
            <a:ext cx="10214516" cy="50403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482E76-BBBC-52CC-1933-4E9E3FDA412D}"/>
              </a:ext>
            </a:extLst>
          </p:cNvPr>
          <p:cNvSpPr/>
          <p:nvPr/>
        </p:nvSpPr>
        <p:spPr>
          <a:xfrm>
            <a:off x="597198" y="1319561"/>
            <a:ext cx="1779261" cy="44865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671F501-E14A-8C34-5E89-28B3481E722A}"/>
              </a:ext>
            </a:extLst>
          </p:cNvPr>
          <p:cNvSpPr txBox="1"/>
          <p:nvPr/>
        </p:nvSpPr>
        <p:spPr>
          <a:xfrm>
            <a:off x="987328" y="1319561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/>
              <a:t>漏洞工单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141C43D-66F3-CA54-A87F-2141C9C8E036}"/>
              </a:ext>
            </a:extLst>
          </p:cNvPr>
          <p:cNvSpPr txBox="1"/>
          <p:nvPr/>
        </p:nvSpPr>
        <p:spPr>
          <a:xfrm>
            <a:off x="5108310" y="89209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项目名称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24FD183-04AD-CB23-DC92-4533239E471A}"/>
              </a:ext>
            </a:extLst>
          </p:cNvPr>
          <p:cNvSpPr txBox="1"/>
          <p:nvPr/>
        </p:nvSpPr>
        <p:spPr>
          <a:xfrm>
            <a:off x="1232586" y="5353772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……</a:t>
            </a:r>
            <a:endParaRPr kumimoji="1" lang="zh-CN" altLang="en-US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6A621F02-A0C6-6A03-E08F-215D93AE2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696" y="1826032"/>
            <a:ext cx="1582259" cy="740482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2E5656ED-DF12-475D-C78A-8D6EF5DABDA5}"/>
              </a:ext>
            </a:extLst>
          </p:cNvPr>
          <p:cNvSpPr txBox="1"/>
          <p:nvPr/>
        </p:nvSpPr>
        <p:spPr>
          <a:xfrm>
            <a:off x="1751849" y="1819406"/>
            <a:ext cx="526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rgbClr val="FF0000"/>
                </a:solidFill>
              </a:rPr>
              <a:t>high</a:t>
            </a:r>
            <a:endParaRPr kumimoji="1" lang="zh-CN" altLang="en-US" sz="1400" dirty="0">
              <a:solidFill>
                <a:srgbClr val="FF0000"/>
              </a:solidFill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B6430123-084A-C36A-509D-BA3230C0B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699" y="2764415"/>
            <a:ext cx="1582259" cy="740482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EC2EB9DA-8162-FF5E-5D5A-9FFE02A55D0D}"/>
              </a:ext>
            </a:extLst>
          </p:cNvPr>
          <p:cNvSpPr txBox="1"/>
          <p:nvPr/>
        </p:nvSpPr>
        <p:spPr>
          <a:xfrm>
            <a:off x="1751852" y="2757789"/>
            <a:ext cx="4780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rgbClr val="FFC000"/>
                </a:solidFill>
              </a:rPr>
              <a:t>mid</a:t>
            </a:r>
            <a:endParaRPr kumimoji="1" lang="zh-CN" altLang="en-US" sz="1400" dirty="0">
              <a:solidFill>
                <a:srgbClr val="FFC000"/>
              </a:solidFill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A4E7A0E9-B7C6-8DDC-7D3A-45FF3DAA6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696" y="3709424"/>
            <a:ext cx="1582259" cy="740482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118F4250-FA4B-848F-D25E-C18FD2C239E6}"/>
              </a:ext>
            </a:extLst>
          </p:cNvPr>
          <p:cNvSpPr txBox="1"/>
          <p:nvPr/>
        </p:nvSpPr>
        <p:spPr>
          <a:xfrm>
            <a:off x="1751849" y="3702798"/>
            <a:ext cx="4523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rgbClr val="00B0F0"/>
                </a:solidFill>
              </a:rPr>
              <a:t>low</a:t>
            </a:r>
            <a:endParaRPr kumimoji="1" lang="zh-CN" altLang="en-US" sz="1400" dirty="0">
              <a:solidFill>
                <a:srgbClr val="00B0F0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58503D5-3305-5ACC-1F8E-498094613F61}"/>
              </a:ext>
            </a:extLst>
          </p:cNvPr>
          <p:cNvSpPr/>
          <p:nvPr/>
        </p:nvSpPr>
        <p:spPr>
          <a:xfrm>
            <a:off x="2542975" y="1319561"/>
            <a:ext cx="2031325" cy="44865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40207AD9-3C67-1623-1A50-8224029AB67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5236"/>
          <a:stretch>
            <a:fillRect/>
          </a:stretch>
        </p:blipFill>
        <p:spPr>
          <a:xfrm>
            <a:off x="2668085" y="1425244"/>
            <a:ext cx="1838865" cy="685800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0981069F-BCE4-EE79-81DE-6F5B3A6D11FA}"/>
              </a:ext>
            </a:extLst>
          </p:cNvPr>
          <p:cNvSpPr/>
          <p:nvPr/>
        </p:nvSpPr>
        <p:spPr>
          <a:xfrm>
            <a:off x="2695376" y="2329763"/>
            <a:ext cx="1640874" cy="10928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592477C-76A3-91DC-5B4B-1F6B239A29F3}"/>
              </a:ext>
            </a:extLst>
          </p:cNvPr>
          <p:cNvSpPr/>
          <p:nvPr/>
        </p:nvSpPr>
        <p:spPr>
          <a:xfrm>
            <a:off x="2690352" y="3562814"/>
            <a:ext cx="1640875" cy="9738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2C51383-E820-9584-3FC0-F44227EE60D5}"/>
              </a:ext>
            </a:extLst>
          </p:cNvPr>
          <p:cNvSpPr/>
          <p:nvPr/>
        </p:nvSpPr>
        <p:spPr>
          <a:xfrm>
            <a:off x="2690354" y="4772723"/>
            <a:ext cx="1640874" cy="8931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F2FD45E-CED9-7FF9-B7F6-3B1567623C38}"/>
              </a:ext>
            </a:extLst>
          </p:cNvPr>
          <p:cNvSpPr txBox="1"/>
          <p:nvPr/>
        </p:nvSpPr>
        <p:spPr>
          <a:xfrm>
            <a:off x="2766589" y="238845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检测信息概览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59BA24E-F992-FE62-D975-FAB64909983A}"/>
              </a:ext>
            </a:extLst>
          </p:cNvPr>
          <p:cNvSpPr txBox="1"/>
          <p:nvPr/>
        </p:nvSpPr>
        <p:spPr>
          <a:xfrm>
            <a:off x="2945940" y="273907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漏洞名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4E486D7-E2E6-F6A1-A572-EDAA40738415}"/>
              </a:ext>
            </a:extLst>
          </p:cNvPr>
          <p:cNvSpPr txBox="1"/>
          <p:nvPr/>
        </p:nvSpPr>
        <p:spPr>
          <a:xfrm>
            <a:off x="2874404" y="304176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漏洞函数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7D6D21C-15D2-A4A3-45A8-88006D5BA093}"/>
              </a:ext>
            </a:extLst>
          </p:cNvPr>
          <p:cNvSpPr txBox="1"/>
          <p:nvPr/>
        </p:nvSpPr>
        <p:spPr>
          <a:xfrm>
            <a:off x="2766589" y="362516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验证概览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85DE41B-60F1-A566-3D1D-0740160A863A}"/>
              </a:ext>
            </a:extLst>
          </p:cNvPr>
          <p:cNvSpPr txBox="1"/>
          <p:nvPr/>
        </p:nvSpPr>
        <p:spPr>
          <a:xfrm>
            <a:off x="2859089" y="392786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是否触发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065DDC4-D48B-2B77-C635-FFFDC29B67B2}"/>
              </a:ext>
            </a:extLst>
          </p:cNvPr>
          <p:cNvSpPr txBox="1"/>
          <p:nvPr/>
        </p:nvSpPr>
        <p:spPr>
          <a:xfrm>
            <a:off x="2874404" y="421324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损失评估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34E9FB0-E232-C09D-2CF6-D9A609F1E2C6}"/>
              </a:ext>
            </a:extLst>
          </p:cNvPr>
          <p:cNvSpPr txBox="1"/>
          <p:nvPr/>
        </p:nvSpPr>
        <p:spPr>
          <a:xfrm>
            <a:off x="2766589" y="477945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修复概览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028D95E-1765-4D72-B178-4B1AF420A604}"/>
              </a:ext>
            </a:extLst>
          </p:cNvPr>
          <p:cNvSpPr txBox="1"/>
          <p:nvPr/>
        </p:nvSpPr>
        <p:spPr>
          <a:xfrm>
            <a:off x="2853050" y="508462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补丁生成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6FD835B-BA47-07AE-A15B-CF4FC48BFACA}"/>
              </a:ext>
            </a:extLst>
          </p:cNvPr>
          <p:cNvSpPr txBox="1"/>
          <p:nvPr/>
        </p:nvSpPr>
        <p:spPr>
          <a:xfrm>
            <a:off x="2939511" y="536001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多维度评估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0A8A77A-A9DE-530E-E8ED-4CCCDB6C2032}"/>
              </a:ext>
            </a:extLst>
          </p:cNvPr>
          <p:cNvSpPr/>
          <p:nvPr/>
        </p:nvSpPr>
        <p:spPr>
          <a:xfrm>
            <a:off x="4699409" y="1319560"/>
            <a:ext cx="5860795" cy="44865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63CB1E3-F45C-5C65-AFF6-99D6FF531B37}"/>
              </a:ext>
            </a:extLst>
          </p:cNvPr>
          <p:cNvSpPr/>
          <p:nvPr/>
        </p:nvSpPr>
        <p:spPr>
          <a:xfrm>
            <a:off x="4867659" y="3909197"/>
            <a:ext cx="5588339" cy="17618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A16341B7-FD23-0531-1453-F2E1A19C3AAE}"/>
              </a:ext>
            </a:extLst>
          </p:cNvPr>
          <p:cNvSpPr txBox="1"/>
          <p:nvPr/>
        </p:nvSpPr>
        <p:spPr>
          <a:xfrm>
            <a:off x="6763886" y="388731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高亮补丁代码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32213935-B66E-E035-137A-49065DF3A51B}"/>
              </a:ext>
            </a:extLst>
          </p:cNvPr>
          <p:cNvSpPr/>
          <p:nvPr/>
        </p:nvSpPr>
        <p:spPr>
          <a:xfrm>
            <a:off x="4867659" y="1425465"/>
            <a:ext cx="5572489" cy="22773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779269E4-E52C-3B81-8FB0-80A7F8F14C24}"/>
              </a:ext>
            </a:extLst>
          </p:cNvPr>
          <p:cNvSpPr txBox="1"/>
          <p:nvPr/>
        </p:nvSpPr>
        <p:spPr>
          <a:xfrm>
            <a:off x="6730284" y="1508190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PoC</a:t>
            </a:r>
            <a:r>
              <a:rPr kumimoji="1" lang="zh-CN" altLang="en-US" dirty="0"/>
              <a:t>回归验证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AA6044A-FD9F-FC34-C609-4635DDA0C889}"/>
              </a:ext>
            </a:extLst>
          </p:cNvPr>
          <p:cNvSpPr txBox="1"/>
          <p:nvPr/>
        </p:nvSpPr>
        <p:spPr>
          <a:xfrm>
            <a:off x="6585213" y="294325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补丁影响性评估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21C9789-2C70-A622-6C5A-1AAB9F42B709}"/>
              </a:ext>
            </a:extLst>
          </p:cNvPr>
          <p:cNvSpPr txBox="1"/>
          <p:nvPr/>
        </p:nvSpPr>
        <p:spPr>
          <a:xfrm>
            <a:off x="5198725" y="4327967"/>
            <a:ext cx="48621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1200" b="0" i="0" dirty="0">
                <a:effectLst/>
                <a:latin typeface="Courier New" panose="02070309020205020404" pitchFamily="49" charset="0"/>
              </a:rPr>
              <a:t>function approve(address spender, uint256 amount) external returns (bool) {</a:t>
            </a:r>
          </a:p>
          <a:p>
            <a:pPr algn="l">
              <a:buNone/>
            </a:pPr>
            <a:r>
              <a:rPr lang="en-US" altLang="zh-CN" sz="1200" b="0" i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allowance[</a:t>
            </a:r>
            <a:r>
              <a:rPr lang="en-US" altLang="zh-CN" sz="1200" b="0" i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msg.sender</a:t>
            </a:r>
            <a:r>
              <a:rPr lang="en-US" altLang="zh-CN" sz="1200" b="0" i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][spender] = amount;</a:t>
            </a:r>
          </a:p>
          <a:p>
            <a:pPr algn="l">
              <a:buNone/>
            </a:pPr>
            <a:r>
              <a:rPr lang="en-US" altLang="zh-CN" sz="1200" b="0" i="0" dirty="0">
                <a:effectLst/>
                <a:latin typeface="Courier New" panose="02070309020205020404" pitchFamily="49" charset="0"/>
              </a:rPr>
              <a:t>    emit Approval(</a:t>
            </a:r>
            <a:r>
              <a:rPr lang="en-US" altLang="zh-CN" sz="1200" b="0" i="0" dirty="0" err="1">
                <a:effectLst/>
                <a:latin typeface="Courier New" panose="02070309020205020404" pitchFamily="49" charset="0"/>
              </a:rPr>
              <a:t>msg.sender</a:t>
            </a:r>
            <a:r>
              <a:rPr lang="en-US" altLang="zh-CN" sz="1200" b="0" i="0" dirty="0">
                <a:effectLst/>
                <a:latin typeface="Courier New" panose="02070309020205020404" pitchFamily="49" charset="0"/>
              </a:rPr>
              <a:t>, spender, amount);</a:t>
            </a:r>
          </a:p>
          <a:p>
            <a:pPr algn="l">
              <a:buNone/>
            </a:pPr>
            <a:r>
              <a:rPr lang="en-US" altLang="zh-CN" sz="1200" b="0" i="0" dirty="0">
                <a:effectLst/>
                <a:latin typeface="Courier New" panose="02070309020205020404" pitchFamily="49" charset="0"/>
              </a:rPr>
              <a:t>   </a:t>
            </a:r>
            <a:r>
              <a:rPr lang="en-US" altLang="zh-CN" sz="1200" b="0" i="0" strike="sngStrike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return true;</a:t>
            </a:r>
          </a:p>
          <a:p>
            <a:pPr algn="l">
              <a:buNone/>
            </a:pPr>
            <a:r>
              <a:rPr lang="en-US" altLang="zh-CN" sz="1200" b="0" i="0" dirty="0">
                <a:effectLst/>
                <a:latin typeface="Courier New" panose="02070309020205020404" pitchFamily="49" charset="0"/>
              </a:rPr>
              <a:t>}</a:t>
            </a:r>
            <a:endParaRPr lang="en-US" altLang="zh-CN" sz="1200" b="0" i="0" dirty="0">
              <a:effectLst/>
              <a:latin typeface="Cascadia Mono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8C34AAA-8FFB-D6AA-B475-299717EF85A3}"/>
              </a:ext>
            </a:extLst>
          </p:cNvPr>
          <p:cNvSpPr/>
          <p:nvPr/>
        </p:nvSpPr>
        <p:spPr>
          <a:xfrm>
            <a:off x="4932626" y="1467829"/>
            <a:ext cx="5411786" cy="1372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F00244A-A556-6E07-92B8-6A690CD760C5}"/>
              </a:ext>
            </a:extLst>
          </p:cNvPr>
          <p:cNvSpPr/>
          <p:nvPr/>
        </p:nvSpPr>
        <p:spPr>
          <a:xfrm>
            <a:off x="4936546" y="2883932"/>
            <a:ext cx="5411786" cy="7074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E82F623-95ED-F75E-1902-4C743B7D054E}"/>
              </a:ext>
            </a:extLst>
          </p:cNvPr>
          <p:cNvSpPr/>
          <p:nvPr/>
        </p:nvSpPr>
        <p:spPr>
          <a:xfrm>
            <a:off x="5041954" y="1819406"/>
            <a:ext cx="1444755" cy="961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AA3CEB3-FEC7-032C-B97E-DC4D3F5F6197}"/>
              </a:ext>
            </a:extLst>
          </p:cNvPr>
          <p:cNvSpPr txBox="1"/>
          <p:nvPr/>
        </p:nvSpPr>
        <p:spPr>
          <a:xfrm>
            <a:off x="5441165" y="182694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指标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91F9A33-9E81-AC07-3434-FE9491B9BF68}"/>
              </a:ext>
            </a:extLst>
          </p:cNvPr>
          <p:cNvSpPr/>
          <p:nvPr/>
        </p:nvSpPr>
        <p:spPr>
          <a:xfrm>
            <a:off x="6634548" y="1826398"/>
            <a:ext cx="3579969" cy="961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2B280B4-FB6D-17EF-1EA9-94EE010DF780}"/>
              </a:ext>
            </a:extLst>
          </p:cNvPr>
          <p:cNvSpPr txBox="1"/>
          <p:nvPr/>
        </p:nvSpPr>
        <p:spPr>
          <a:xfrm>
            <a:off x="7930211" y="183004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执行对比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0A709FD-8917-FE44-6926-E357FDC09915}"/>
              </a:ext>
            </a:extLst>
          </p:cNvPr>
          <p:cNvSpPr txBox="1"/>
          <p:nvPr/>
        </p:nvSpPr>
        <p:spPr>
          <a:xfrm>
            <a:off x="6732236" y="2172671"/>
            <a:ext cx="263214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/>
              <a:t>1</a:t>
            </a:r>
          </a:p>
          <a:p>
            <a:r>
              <a:rPr kumimoji="1" lang="en-US" altLang="zh-CN" sz="1100" b="1" dirty="0">
                <a:solidFill>
                  <a:srgbClr val="FF0000"/>
                </a:solidFill>
              </a:rPr>
              <a:t>2</a:t>
            </a:r>
          </a:p>
          <a:p>
            <a:r>
              <a:rPr kumimoji="1" lang="en-US" altLang="zh-CN" sz="1100" dirty="0"/>
              <a:t>3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DBED65B-FDE7-7986-62EE-CC3FCD06768B}"/>
              </a:ext>
            </a:extLst>
          </p:cNvPr>
          <p:cNvSpPr txBox="1"/>
          <p:nvPr/>
        </p:nvSpPr>
        <p:spPr>
          <a:xfrm>
            <a:off x="8484209" y="2174757"/>
            <a:ext cx="258404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/>
              <a:t>1</a:t>
            </a:r>
          </a:p>
          <a:p>
            <a:r>
              <a:rPr kumimoji="1" lang="en-US" altLang="zh-CN" sz="1100" dirty="0">
                <a:solidFill>
                  <a:srgbClr val="FF0000"/>
                </a:solidFill>
              </a:rPr>
              <a:t>2</a:t>
            </a:r>
          </a:p>
          <a:p>
            <a:r>
              <a:rPr kumimoji="1" lang="en-US" altLang="zh-CN" sz="1100" dirty="0"/>
              <a:t>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ED5F994-0FF0-FEF7-CF4C-E42E619BB087}"/>
              </a:ext>
            </a:extLst>
          </p:cNvPr>
          <p:cNvSpPr/>
          <p:nvPr/>
        </p:nvSpPr>
        <p:spPr>
          <a:xfrm>
            <a:off x="6730284" y="2388457"/>
            <a:ext cx="3330603" cy="184666"/>
          </a:xfrm>
          <a:prstGeom prst="rect">
            <a:avLst/>
          </a:prstGeom>
          <a:solidFill>
            <a:schemeClr val="accent2">
              <a:alpha val="6715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9555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230</Words>
  <Application>Microsoft Macintosh PowerPoint</Application>
  <PresentationFormat>宽屏</PresentationFormat>
  <Paragraphs>100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等线</vt:lpstr>
      <vt:lpstr>等线 Light</vt:lpstr>
      <vt:lpstr>Microsoft YaHei</vt:lpstr>
      <vt:lpstr>Cascadia Mono</vt:lpstr>
      <vt:lpstr>Arial</vt:lpstr>
      <vt:lpstr>Courier New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HD5916</dc:creator>
  <cp:lastModifiedBy>HD5916</cp:lastModifiedBy>
  <cp:revision>10</cp:revision>
  <dcterms:created xsi:type="dcterms:W3CDTF">2026-03-07T01:39:04Z</dcterms:created>
  <dcterms:modified xsi:type="dcterms:W3CDTF">2026-03-09T11:47:56Z</dcterms:modified>
</cp:coreProperties>
</file>